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540"/>
                </a:solidFill>
                <a:latin typeface="PingFang SC"/>
                <a:ea typeface="PingFang SC"/>
              </a:rPr>
              <a:t>结果汇总：四条评价标准的证据矩阵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041648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286000"/>
                <a:gridCol w="5120640"/>
                <a:gridCol w="3867912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评价标准</a:t>
                      </a:r>
                    </a:p>
                  </a:txBody>
                  <a:tcPr anchor="ctr" marL="128016" marR="109728" marT="54864" marB="54864">
                    <a:solidFill>
                      <a:srgbClr val="0F25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测试项</a:t>
                      </a:r>
                    </a:p>
                  </a:txBody>
                  <a:tcPr anchor="ctr" marL="128016" marR="109728" marT="54864" marB="54864">
                    <a:solidFill>
                      <a:srgbClr val="0F25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结果</a:t>
                      </a:r>
                    </a:p>
                  </a:txBody>
                  <a:tcPr anchor="ctr" marL="128016" marR="109728" marT="54864" marB="54864">
                    <a:solidFill>
                      <a:srgbClr val="0F254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PingFang SC"/>
                          <a:ea typeface="PingFang SC"/>
                        </a:rPr>
                        <a:t>安全边界</a:t>
                      </a:r>
                    </a:p>
                  </a:txBody>
                  <a:tcPr anchor="ctr" marL="128016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只读写入 / 破坏性命令 / 路径越界等 5 个拒绝场景</a:t>
                      </a:r>
                    </a:p>
                  </a:txBody>
                  <a:tcPr anchor="ctr" marL="128016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7C3C"/>
                          </a:solidFill>
                          <a:latin typeface="PingFang SC"/>
                          <a:ea typeface="PingFang SC"/>
                        </a:rPr>
                        <a:t>拒绝率 100%</a:t>
                      </a:r>
                      <a:r>
                        <a:rPr sz="1400" b="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，事件可审计</a:t>
                      </a:r>
                    </a:p>
                  </a:txBody>
                  <a:tcPr anchor="ctr" marL="128016" marR="109728" marT="54864" marB="54864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PingFang SC"/>
                          <a:ea typeface="PingFang SC"/>
                        </a:rPr>
                        <a:t>失败收敛</a:t>
                      </a:r>
                    </a:p>
                  </a:txBody>
                  <a:tcPr anchor="ctr" marL="128016" marR="109728" marT="54864" marB="54864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网络故障有限重试与抑制、时间预算阻断</a:t>
                      </a:r>
                    </a:p>
                  </a:txBody>
                  <a:tcPr anchor="ctr" marL="128016" marR="109728" marT="54864" marB="54864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7C3C"/>
                          </a:solidFill>
                          <a:latin typeface="PingFang SC"/>
                          <a:ea typeface="PingFang SC"/>
                        </a:rPr>
                        <a:t>2/2 通过</a:t>
                      </a:r>
                    </a:p>
                  </a:txBody>
                  <a:tcPr anchor="ctr" marL="128016" marR="109728" marT="54864" marB="54864">
                    <a:solidFill>
                      <a:srgbClr val="F1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PingFang SC"/>
                          <a:ea typeface="PingFang SC"/>
                        </a:rPr>
                        <a:t>证据完整性</a:t>
                      </a:r>
                    </a:p>
                  </a:txBody>
                  <a:tcPr anchor="ctr" marL="128016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脱敏回归、run manifest、审批恢复幂等</a:t>
                      </a:r>
                    </a:p>
                  </a:txBody>
                  <a:tcPr anchor="ctr" marL="128016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7C3C"/>
                          </a:solidFill>
                          <a:latin typeface="PingFang SC"/>
                          <a:ea typeface="PingFang SC"/>
                        </a:rPr>
                        <a:t>全部通过</a:t>
                      </a:r>
                      <a:r>
                        <a:rPr sz="1400" b="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（含于 300 项回归）</a:t>
                      </a:r>
                    </a:p>
                  </a:txBody>
                  <a:tcPr anchor="ctr" marL="128016" marR="109728" marT="54864" marB="54864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563EB"/>
                          </a:solidFill>
                          <a:latin typeface="PingFang SC"/>
                          <a:ea typeface="PingFang SC"/>
                        </a:rPr>
                        <a:t>真实任务修复</a:t>
                      </a:r>
                    </a:p>
                  </a:txBody>
                  <a:tcPr anchor="ctr" marL="128016" marR="109728" marT="54864" marB="54864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固定 10 个官方 SWE-bench-Lite case</a:t>
                      </a:r>
                    </a:p>
                  </a:txBody>
                  <a:tcPr anchor="ctr" marL="128016" marR="109728" marT="54864" marB="54864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67C3C"/>
                          </a:solidFill>
                          <a:latin typeface="PingFang SC"/>
                          <a:ea typeface="PingFang SC"/>
                        </a:rPr>
                        <a:t>7/10 resolved</a:t>
                      </a:r>
                      <a:r>
                        <a:rPr sz="1400" b="0">
                          <a:solidFill>
                            <a:srgbClr val="1F2B3A"/>
                          </a:solidFill>
                          <a:latin typeface="PingFang SC"/>
                          <a:ea typeface="PingFang SC"/>
                        </a:rPr>
                        <a:t>，3/10 unresolved，均未修改测试</a:t>
                      </a:r>
                    </a:p>
                  </a:txBody>
                  <a:tcPr anchor="ctr" marL="128016" marR="109728" marT="54864" marB="5486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B80"/>
                </a:solidFill>
                <a:latin typeface="PingFang SC"/>
                <a:ea typeface="PingFang SC"/>
              </a:rPr>
              <a:t>口径：所有数字均来自仓库内可复现实验；成功率只按明确样本报告，不外推泛化成功率。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